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5" r:id="rId4"/>
    <p:sldId id="266" r:id="rId5"/>
    <p:sldId id="26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90"/>
  </p:normalViewPr>
  <p:slideViewPr>
    <p:cSldViewPr>
      <p:cViewPr varScale="1">
        <p:scale>
          <a:sx n="111" d="100"/>
          <a:sy n="111" d="100"/>
        </p:scale>
        <p:origin x="56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6E779-702A-DB77-A64C-2A19597B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8CB54F-3925-2CF8-46A9-3AA1AE6C4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7B14BB-C6C8-1781-6A87-0044B4A7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FC210F-AAE6-C7CF-87D8-99261593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6A3297-F698-7408-59C6-DEA22234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577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6F30D-12AA-2F44-4D84-3D0B331B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C25BC1-6412-5F77-150E-56F7F50BF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5F6077-3A9B-27C3-40D4-50CE95B0B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4E66CF-24BF-0571-92D7-586C3439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F59247-B397-6E42-3483-C3DE1A60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2908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B0036-C839-CBF5-A81B-A8FB32C5C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5DD2A9-2B1D-774B-F943-466E2C990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38232E-1D62-5958-F781-5A31BBED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4BDF4B-ACC6-A827-A597-B7481421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39019-BCC6-37EF-6E4A-CBEDDA50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4891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4148A-F780-8D01-D213-EAB619C9D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7B752-78C5-532A-BAF2-3A332E2E2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3E543D-A844-15CA-7DCB-1A252C358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D42E8F-6871-3EE5-831F-02926CDB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4D4317-FFC3-FC27-DA86-E99E38DD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09C83B-52F7-8539-922F-63A0C5AA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8710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7E390A-DE12-E5BC-60BE-F9134757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8DF6FF-6ED4-21E6-A17F-D6FAE0BD1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C18D1D-FDB9-772C-7EF2-BA04D662F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3126A6-2A54-DCE8-52C7-84B01BD26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A609F2-72B4-D29B-1928-F8DBA57E4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69B1F4-171A-AC24-70DE-F7976BB62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0CA92CD-F871-12C9-B87D-9A9E82ADB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EC96A8-31B8-39F4-F274-979A8C95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5679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D938B2-2C10-E3F5-7C4F-EC566B96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74E633-491C-F619-756E-FC30A86B0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BAB72A-F329-FF8E-8523-BD6A1CC4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BEAD84-2E5D-B754-5883-DC523243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38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5DAFB4-D9D8-EE8A-A10B-EB5A2E36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E53C24-12FC-89C0-7835-A50AE210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3CE32-5E6D-31AF-E4B1-B85104B7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968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2C7A4-00C7-91F7-2DD1-A71D73F5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70D78D-61EC-46BA-77F1-A1634DE81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3E8676-A0B1-2D45-5272-78AD3374F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5629FF-A207-12BC-1134-D8585DA9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6F5EA2-B2A0-9F6E-21DA-AAC2F3BA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98302D-C850-9A61-1998-43CC8668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2691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F91BE-1008-AA6D-5BE8-69FBF7F0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ED63FE-6A23-45CF-3158-6EBEEEEF6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013F4F-AB5C-B843-02B1-53BCFDD9E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C078CC-1516-102F-7591-C1057B35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5A8F74-1653-2F44-E677-E53FCFDE6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AB2CEB-4C56-EF7F-375B-711EDE44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240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AA094-8B8D-2248-6A01-560239E8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DAADB6-3405-02CA-50B2-DE7617FF2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06A6FB-7891-5FB1-B3A4-37F11A35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30A3C-52E4-CFB0-C9B0-9C17AFB3A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2C89D2-913D-5CBF-E304-9C283A18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709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9DF74D-42F6-2F41-293E-2B07B6C65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83B413-F530-9104-4BBB-8F221B868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A51F85-F472-F566-550A-7AB32B37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101FEC-97B8-719C-D806-E1B7CF92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F7AE7E-5811-4D30-4C8A-BBEADC3D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903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25E7CC-D05B-17A8-C22E-48D3631C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DD1D5A-85E1-EDAA-FC25-DDE3C805E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BB379A-7223-A8C7-C23D-B510B4AFC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2E7D7-E117-854E-9DF0-28E9D39ECBAA}" type="datetimeFigureOut">
              <a:rPr kumimoji="1" lang="ko-KR" altLang="en-US" smtClean="0"/>
              <a:t>2026. 3. 31.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97092-AF4E-5BB6-AA84-AB882359F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8E4D81-4D7B-2024-65DD-754411651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9901F-2625-F849-BDA4-66EF51B797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485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6B85E-F5B8-FFAD-DE63-AE50EFA879BC}"/>
              </a:ext>
            </a:extLst>
          </p:cNvPr>
          <p:cNvSpPr txBox="1"/>
          <p:nvPr/>
        </p:nvSpPr>
        <p:spPr>
          <a:xfrm>
            <a:off x="3215680" y="2767280"/>
            <a:ext cx="59699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4000" b="1" dirty="0">
                <a:latin typeface="KoPubWorldDotum_Pro Bold" pitchFamily="2" charset="-127"/>
                <a:ea typeface="KoPubWorldDotum_Pro Bold" pitchFamily="2" charset="-127"/>
                <a:cs typeface="KoPubWorldDotum_Pro Bold" pitchFamily="2" charset="-127"/>
              </a:rPr>
              <a:t>코스피 </a:t>
            </a:r>
            <a:r>
              <a:rPr kumimoji="1" lang="en-US" altLang="ko-KR" sz="4000" b="1" dirty="0">
                <a:latin typeface="KoPubWorldDotum_Pro Bold" pitchFamily="2" charset="-127"/>
                <a:ea typeface="KoPubWorldDotum_Pro Bold" pitchFamily="2" charset="-127"/>
                <a:cs typeface="KoPubWorldDotum_Pro Bold" pitchFamily="2" charset="-127"/>
              </a:rPr>
              <a:t>100</a:t>
            </a:r>
            <a:r>
              <a:rPr kumimoji="1" lang="ko-KR" altLang="en-US" sz="4000" b="1" dirty="0">
                <a:latin typeface="KoPubWorldDotum_Pro Bold" pitchFamily="2" charset="-127"/>
                <a:ea typeface="KoPubWorldDotum_Pro Bold" pitchFamily="2" charset="-127"/>
                <a:cs typeface="KoPubWorldDotum_Pro Bold" pitchFamily="2" charset="-127"/>
              </a:rPr>
              <a:t> 데이터를 활용한</a:t>
            </a:r>
            <a:endParaRPr kumimoji="1" lang="en-US" altLang="ko-KR" sz="4000" b="1" dirty="0">
              <a:latin typeface="KoPubWorldDotum_Pro Bold" pitchFamily="2" charset="-127"/>
              <a:ea typeface="KoPubWorldDotum_Pro Bold" pitchFamily="2" charset="-127"/>
              <a:cs typeface="KoPubWorldDotum_Pro Bold" pitchFamily="2" charset="-127"/>
            </a:endParaRPr>
          </a:p>
          <a:p>
            <a:pPr algn="ctr"/>
            <a:r>
              <a:rPr kumimoji="1" lang="ko-KR" altLang="en-US" sz="4000" b="1" dirty="0">
                <a:latin typeface="KoPubWorldDotum_Pro Bold" pitchFamily="2" charset="-127"/>
                <a:ea typeface="KoPubWorldDotum_Pro Bold" pitchFamily="2" charset="-127"/>
                <a:cs typeface="KoPubWorldDotum_Pro Bold" pitchFamily="2" charset="-127"/>
              </a:rPr>
              <a:t>주식 투자 시뮬레이션</a:t>
            </a:r>
            <a:endParaRPr kumimoji="1" lang="en-US" altLang="ko-KR" sz="4000" b="1" dirty="0">
              <a:latin typeface="KoPubWorldDotum_Pro Bold" pitchFamily="2" charset="-127"/>
              <a:ea typeface="KoPubWorldDotum_Pro Bold" pitchFamily="2" charset="-127"/>
              <a:cs typeface="KoPubWorldDotum_Pro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563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04A97A2-D324-C7FF-D23C-09F5E80A3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337008"/>
              </p:ext>
            </p:extLst>
          </p:nvPr>
        </p:nvGraphicFramePr>
        <p:xfrm>
          <a:off x="911424" y="1268761"/>
          <a:ext cx="10657184" cy="497666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283201198"/>
                    </a:ext>
                  </a:extLst>
                </a:gridCol>
                <a:gridCol w="8352928">
                  <a:extLst>
                    <a:ext uri="{9D8B030D-6E8A-4147-A177-3AD203B41FA5}">
                      <a16:colId xmlns:a16="http://schemas.microsoft.com/office/drawing/2014/main" val="95734618"/>
                    </a:ext>
                  </a:extLst>
                </a:gridCol>
              </a:tblGrid>
              <a:tr h="4320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구분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68200"/>
                  </a:ext>
                </a:extLst>
              </a:tr>
              <a:tr h="1514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기획배경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/>
                        <a:t>1)</a:t>
                      </a:r>
                      <a:r>
                        <a:rPr lang="ko-KR" altLang="en-US" sz="1600" dirty="0"/>
                        <a:t> 실제 투자</a:t>
                      </a:r>
                      <a:r>
                        <a:rPr lang="en-US" altLang="ko-KR" sz="1600" dirty="0"/>
                        <a:t>:</a:t>
                      </a:r>
                      <a:r>
                        <a:rPr lang="ko-KR" altLang="en-US" sz="1600" dirty="0"/>
                        <a:t> 금전적 리스크 존재</a:t>
                      </a:r>
                    </a:p>
                    <a:p>
                      <a:pPr algn="l"/>
                      <a:r>
                        <a:rPr lang="en-US" altLang="ko-KR" sz="1600" dirty="0"/>
                        <a:t>2)</a:t>
                      </a:r>
                      <a:r>
                        <a:rPr lang="ko-KR" altLang="en-US" sz="1600" dirty="0"/>
                        <a:t> 기존 투자 시뮬레이션</a:t>
                      </a:r>
                      <a:r>
                        <a:rPr lang="en-US" altLang="ko-KR" sz="1600" dirty="0"/>
                        <a:t>:</a:t>
                      </a:r>
                      <a:r>
                        <a:rPr lang="ko-KR" altLang="en-US" sz="1600" dirty="0"/>
                        <a:t> 초기 자본만 지급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현실적인 개인 재무 구조 </a:t>
                      </a:r>
                      <a:r>
                        <a:rPr lang="ko-KR" altLang="en-US" sz="1600" dirty="0" err="1"/>
                        <a:t>미반영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월급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생활비</a:t>
                      </a:r>
                      <a:r>
                        <a:rPr lang="en-US" altLang="ko-KR" sz="1600" dirty="0"/>
                        <a:t>.</a:t>
                      </a:r>
                      <a:r>
                        <a:rPr lang="ko-KR" altLang="en-US" sz="1600" dirty="0"/>
                        <a:t> 대출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소비 등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algn="l"/>
                      <a:endParaRPr lang="en-US" altLang="ko-KR" sz="1600" dirty="0"/>
                    </a:p>
                    <a:p>
                      <a:pPr algn="l"/>
                      <a:r>
                        <a:rPr lang="en-US" altLang="ko-KR" sz="1600" dirty="0"/>
                        <a:t>=</a:t>
                      </a:r>
                      <a:r>
                        <a:rPr lang="ko-KR" altLang="en-US" sz="1600" dirty="0"/>
                        <a:t> 실질적 </a:t>
                      </a:r>
                      <a:r>
                        <a:rPr lang="ko-KR" altLang="en-US" sz="1600" b="0" dirty="0"/>
                        <a:t>현금 흐름 기반 투자를 안정적으로 접할 환경의 부재</a:t>
                      </a:r>
                      <a:endParaRPr lang="en-US" altLang="ko-KR" sz="1600" b="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2441074"/>
                  </a:ext>
                </a:extLst>
              </a:tr>
              <a:tr h="1514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기획목적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/>
                        <a:t>1)</a:t>
                      </a:r>
                      <a:r>
                        <a:rPr lang="ko-KR" altLang="en-US" sz="1600" dirty="0"/>
                        <a:t> 투자 전략 체험형 학습 제공</a:t>
                      </a:r>
                    </a:p>
                    <a:p>
                      <a:pPr algn="l"/>
                      <a:r>
                        <a:rPr lang="en-US" altLang="ko-KR" sz="1600" dirty="0"/>
                        <a:t>2)</a:t>
                      </a:r>
                      <a:r>
                        <a:rPr lang="ko-KR" altLang="en-US" sz="1600" dirty="0"/>
                        <a:t> 포트폴리오 구성 경험 제공</a:t>
                      </a:r>
                    </a:p>
                    <a:p>
                      <a:pPr algn="l"/>
                      <a:r>
                        <a:rPr lang="en-US" altLang="ko-KR" sz="1600" dirty="0"/>
                        <a:t>3)</a:t>
                      </a:r>
                      <a:r>
                        <a:rPr lang="ko-KR" altLang="en-US" sz="1600" dirty="0"/>
                        <a:t> 리스크 기반 투자 의사결정 학습</a:t>
                      </a:r>
                      <a:endParaRPr lang="en-US" altLang="ko-KR" sz="1600" dirty="0"/>
                    </a:p>
                    <a:p>
                      <a:pPr algn="l"/>
                      <a:r>
                        <a:rPr lang="en-US" altLang="ko-KR" sz="1600" dirty="0"/>
                        <a:t>4)</a:t>
                      </a:r>
                      <a:r>
                        <a:rPr lang="ko-KR" altLang="en-US" sz="1600" dirty="0"/>
                        <a:t> 게임 요소 통한 사용자 참여 유도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8679517"/>
                  </a:ext>
                </a:extLst>
              </a:tr>
              <a:tr h="1514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기획효과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/>
                        <a:t>1)</a:t>
                      </a:r>
                      <a:r>
                        <a:rPr lang="ko-KR" altLang="en-US" sz="1600" dirty="0"/>
                        <a:t> 투자 전략 실험 환경 제공</a:t>
                      </a:r>
                    </a:p>
                    <a:p>
                      <a:pPr algn="l"/>
                      <a:r>
                        <a:rPr lang="en-US" altLang="ko-KR" sz="1600" dirty="0"/>
                        <a:t>2)</a:t>
                      </a:r>
                      <a:r>
                        <a:rPr lang="ko-KR" altLang="en-US" sz="1600" dirty="0"/>
                        <a:t> 포트폴리오 관리 능력 향상</a:t>
                      </a:r>
                    </a:p>
                    <a:p>
                      <a:pPr algn="l"/>
                      <a:r>
                        <a:rPr lang="en-US" altLang="ko-KR" sz="1600" dirty="0"/>
                        <a:t>3)</a:t>
                      </a:r>
                      <a:r>
                        <a:rPr lang="ko-KR" altLang="en-US" sz="1600" dirty="0"/>
                        <a:t> 실제 리스크 지표 이해도 향상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9253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102F89-1E8D-E5D0-922A-F1336069283F}"/>
              </a:ext>
            </a:extLst>
          </p:cNvPr>
          <p:cNvSpPr txBox="1"/>
          <p:nvPr/>
        </p:nvSpPr>
        <p:spPr>
          <a:xfrm>
            <a:off x="335360" y="404664"/>
            <a:ext cx="2302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서비스 개요</a:t>
            </a:r>
          </a:p>
        </p:txBody>
      </p:sp>
    </p:spTree>
    <p:extLst>
      <p:ext uri="{BB962C8B-B14F-4D97-AF65-F5344CB8AC3E}">
        <p14:creationId xmlns:p14="http://schemas.microsoft.com/office/powerpoint/2010/main" val="214982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DC4F-6DDA-39FD-1EA1-5C7C0A3C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B7D854B-F4C2-FF3B-7DBD-D40500D37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387600"/>
              </p:ext>
            </p:extLst>
          </p:nvPr>
        </p:nvGraphicFramePr>
        <p:xfrm>
          <a:off x="911424" y="1268760"/>
          <a:ext cx="10657185" cy="495652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283201198"/>
                    </a:ext>
                  </a:extLst>
                </a:gridCol>
                <a:gridCol w="2171762">
                  <a:extLst>
                    <a:ext uri="{9D8B030D-6E8A-4147-A177-3AD203B41FA5}">
                      <a16:colId xmlns:a16="http://schemas.microsoft.com/office/drawing/2014/main" val="2480393134"/>
                    </a:ext>
                  </a:extLst>
                </a:gridCol>
                <a:gridCol w="6181167">
                  <a:extLst>
                    <a:ext uri="{9D8B030D-6E8A-4147-A177-3AD203B41FA5}">
                      <a16:colId xmlns:a16="http://schemas.microsoft.com/office/drawing/2014/main" val="122233008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구분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600" b="1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3868200"/>
                  </a:ext>
                </a:extLst>
              </a:tr>
              <a:tr h="754079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서비스 요약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초기 시나리오</a:t>
                      </a:r>
                      <a:endParaRPr lang="en-US" altLang="ko-KR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err="1"/>
                        <a:t>빚투</a:t>
                      </a:r>
                      <a:r>
                        <a:rPr lang="ko-KR" altLang="en-US" sz="1200" dirty="0"/>
                        <a:t> 상태에서 게임 시작</a:t>
                      </a:r>
                      <a:endParaRPr lang="en-US" altLang="ko-KR" sz="1200" dirty="0"/>
                    </a:p>
                    <a:p>
                      <a:pPr marL="228600" indent="-228600" algn="l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일정 금액의 부채 존재</a:t>
                      </a:r>
                      <a:endParaRPr lang="en-US" altLang="ko-KR" sz="1200" dirty="0"/>
                    </a:p>
                    <a:p>
                      <a:pPr marL="228600" indent="-228600" algn="l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매달 대출 상환 필요</a:t>
                      </a:r>
                      <a:endParaRPr lang="ko-KR" altLang="en-US" sz="18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441074"/>
                  </a:ext>
                </a:extLst>
              </a:tr>
              <a:tr h="9705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현금 흐름 시스템</a:t>
                      </a:r>
                      <a:endParaRPr lang="en-US" altLang="ko-KR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/>
                        <a:t>월급 지급</a:t>
                      </a:r>
                      <a:endParaRPr lang="en-US" altLang="ko-KR" sz="1200"/>
                    </a:p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/>
                        <a:t>생활비 지출</a:t>
                      </a:r>
                      <a:endParaRPr lang="en-US" altLang="ko-KR" sz="1200"/>
                    </a:p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/>
                        <a:t>대출 상환</a:t>
                      </a:r>
                      <a:endParaRPr lang="en-US" altLang="ko-KR" sz="1200"/>
                    </a:p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/>
                        <a:t>총 자산 변화 계산</a:t>
                      </a:r>
                      <a:endParaRPr lang="ko-KR" altLang="en-US" sz="180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701669"/>
                  </a:ext>
                </a:extLst>
              </a:tr>
              <a:tr h="9705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투자 기능</a:t>
                      </a:r>
                      <a:endParaRPr lang="en-US" altLang="ko-KR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종목 리스트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매수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매도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포트폴리오 구성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자산 비중 관리</a:t>
                      </a:r>
                      <a:endParaRPr lang="ko-KR" altLang="en-US" sz="18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176657"/>
                  </a:ext>
                </a:extLst>
              </a:tr>
              <a:tr h="537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뉴스 기반 투자</a:t>
                      </a:r>
                      <a:endParaRPr lang="en-US" altLang="ko-KR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뉴스 제공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뉴스 열람</a:t>
                      </a:r>
                      <a:endParaRPr lang="ko-KR" altLang="en-US" sz="18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780925"/>
                  </a:ext>
                </a:extLst>
              </a:tr>
              <a:tr h="7540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달력</a:t>
                      </a:r>
                      <a:endParaRPr lang="en-US" altLang="ko-KR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날짜별 뉴스 기록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이벤트 기록</a:t>
                      </a:r>
                      <a:endParaRPr lang="en-US" altLang="ko-KR" sz="1200" dirty="0"/>
                    </a:p>
                    <a:p>
                      <a:pPr marL="228600" indent="-228600" latinLnBrk="1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유저의 결정 기록 관리</a:t>
                      </a:r>
                      <a:endParaRPr lang="ko-KR" altLang="en-US" sz="18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120681"/>
                  </a:ext>
                </a:extLst>
              </a:tr>
              <a:tr h="537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투자 분석</a:t>
                      </a:r>
                      <a:endParaRPr lang="en-US" altLang="ko-KR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200" dirty="0"/>
                        <a:t>Return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 </a:t>
                      </a:r>
                      <a:r>
                        <a:rPr lang="en" altLang="ko-KR" sz="1200" dirty="0"/>
                        <a:t>Sharpe Ratio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 </a:t>
                      </a:r>
                      <a:r>
                        <a:rPr lang="en" altLang="ko-KR" sz="1200" dirty="0"/>
                        <a:t>MD</a:t>
                      </a:r>
                      <a:r>
                        <a:rPr lang="en-US" altLang="ko-KR" sz="1200" dirty="0"/>
                        <a:t>D</a:t>
                      </a:r>
                      <a:r>
                        <a:rPr lang="en" altLang="ko-KR" sz="1200" dirty="0"/>
                        <a:t> / </a:t>
                      </a:r>
                      <a:r>
                        <a:rPr lang="en" altLang="ko-KR" sz="1200" dirty="0" err="1"/>
                        <a:t>VaR</a:t>
                      </a:r>
                      <a:r>
                        <a:rPr lang="en" altLang="ko-KR" sz="1200" dirty="0"/>
                        <a:t> </a:t>
                      </a:r>
                      <a:r>
                        <a:rPr lang="ko-KR" altLang="en-US" sz="1200" dirty="0"/>
                        <a:t>등의 지표</a:t>
                      </a:r>
                      <a:endParaRPr lang="en-US" altLang="ko-KR" sz="1200" dirty="0"/>
                    </a:p>
                    <a:p>
                      <a:pPr marL="228600" indent="-228600">
                        <a:buSzPct val="9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자산 변화 그래프</a:t>
                      </a:r>
                      <a:endParaRPr lang="ko-KR" altLang="en-US" sz="18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05823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0D86592-0016-E531-52AB-7A6D658CCA28}"/>
              </a:ext>
            </a:extLst>
          </p:cNvPr>
          <p:cNvSpPr txBox="1"/>
          <p:nvPr/>
        </p:nvSpPr>
        <p:spPr>
          <a:xfrm>
            <a:off x="335360" y="404664"/>
            <a:ext cx="2302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서비스 개요</a:t>
            </a:r>
          </a:p>
        </p:txBody>
      </p:sp>
    </p:spTree>
    <p:extLst>
      <p:ext uri="{BB962C8B-B14F-4D97-AF65-F5344CB8AC3E}">
        <p14:creationId xmlns:p14="http://schemas.microsoft.com/office/powerpoint/2010/main" val="1766955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FABE-C866-E7EE-E770-0E324010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68EC68C-4382-DC44-7AED-ABBA84D92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225233"/>
              </p:ext>
            </p:extLst>
          </p:nvPr>
        </p:nvGraphicFramePr>
        <p:xfrm>
          <a:off x="911424" y="1268760"/>
          <a:ext cx="10729196" cy="487617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283201198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480393134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575004242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791474286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9517119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496385114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1222330085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511433520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06443726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71904608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1702978732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148529589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1572699159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151852167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434602985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4147399556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854360222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85167706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1355673029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4215803963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617466206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구분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0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68200"/>
                  </a:ext>
                </a:extLst>
              </a:tr>
              <a:tr h="1497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기타사항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0">
                  <a:txBody>
                    <a:bodyPr/>
                    <a:lstStyle/>
                    <a:p>
                      <a:pPr marL="285750" indent="-285750" algn="l">
                        <a:buFont typeface="Wingdings" pitchFamily="2" charset="2"/>
                        <a:buChar char="Ø"/>
                      </a:pPr>
                      <a:r>
                        <a:rPr lang="ko-KR" altLang="en-US" sz="1400" dirty="0"/>
                        <a:t>실제 코스피 데이터를 기반으로 로컬 환경에서 개발</a:t>
                      </a:r>
                      <a:endParaRPr lang="en-US" altLang="ko-KR" sz="1400" dirty="0"/>
                    </a:p>
                    <a:p>
                      <a:pPr marL="285750" indent="-285750" algn="l">
                        <a:buFont typeface="Wingdings" pitchFamily="2" charset="2"/>
                        <a:buChar char="Ø"/>
                      </a:pPr>
                      <a:r>
                        <a:rPr lang="ko-KR" altLang="en-US" sz="1400" dirty="0"/>
                        <a:t>배포는 이후에</a:t>
                      </a:r>
                      <a:r>
                        <a:rPr lang="en-US" altLang="ko-KR" sz="1400" dirty="0"/>
                        <a:t>?</a:t>
                      </a:r>
                    </a:p>
                    <a:p>
                      <a:pPr marL="285750" indent="-285750" algn="l">
                        <a:buFont typeface="Wingdings" pitchFamily="2" charset="2"/>
                        <a:buChar char="Ø"/>
                      </a:pPr>
                      <a:r>
                        <a:rPr lang="ko-KR" altLang="en-US" sz="1400" dirty="0"/>
                        <a:t>뉴스 데이터의 수집 방식이 관건</a:t>
                      </a:r>
                      <a:endParaRPr lang="en-US" altLang="ko-KR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679517"/>
                  </a:ext>
                </a:extLst>
              </a:tr>
              <a:tr h="49103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기획일정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1M</a:t>
                      </a:r>
                      <a:endParaRPr lang="ko-KR" altLang="en-US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2M</a:t>
                      </a:r>
                      <a:endParaRPr lang="ko-KR" altLang="en-US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3M</a:t>
                      </a:r>
                      <a:endParaRPr lang="ko-KR" altLang="en-US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4M</a:t>
                      </a:r>
                      <a:endParaRPr lang="ko-KR" altLang="en-US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5M</a:t>
                      </a:r>
                      <a:endParaRPr lang="ko-KR" altLang="en-US" sz="14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925305"/>
                  </a:ext>
                </a:extLst>
              </a:tr>
              <a:tr h="4910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858193"/>
                  </a:ext>
                </a:extLst>
              </a:tr>
              <a:tr h="4910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기획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339689"/>
                  </a:ext>
                </a:extLst>
              </a:tr>
              <a:tr h="4910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설계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56271"/>
                  </a:ext>
                </a:extLst>
              </a:tr>
              <a:tr h="491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개발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864681"/>
                  </a:ext>
                </a:extLst>
              </a:tr>
              <a:tr h="4910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테스트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0952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8746D4-9F49-B52A-233B-3E728FD1C28B}"/>
              </a:ext>
            </a:extLst>
          </p:cNvPr>
          <p:cNvSpPr txBox="1"/>
          <p:nvPr/>
        </p:nvSpPr>
        <p:spPr>
          <a:xfrm>
            <a:off x="335360" y="404664"/>
            <a:ext cx="2302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서비스 개요</a:t>
            </a:r>
          </a:p>
        </p:txBody>
      </p:sp>
    </p:spTree>
    <p:extLst>
      <p:ext uri="{BB962C8B-B14F-4D97-AF65-F5344CB8AC3E}">
        <p14:creationId xmlns:p14="http://schemas.microsoft.com/office/powerpoint/2010/main" val="9361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A1C6-9527-51B6-A609-3DD905D9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AC2522-2255-1224-B3B2-513FBB284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454722"/>
              </p:ext>
            </p:extLst>
          </p:nvPr>
        </p:nvGraphicFramePr>
        <p:xfrm>
          <a:off x="911424" y="1268760"/>
          <a:ext cx="10729196" cy="294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4283201198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480393134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575004242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791474286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9517119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496385114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1222330085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511433520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06443726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71904608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1702978732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2148529589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1572699159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151852167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434602985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4147399556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854360222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85167706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1355673029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4215803963"/>
                    </a:ext>
                  </a:extLst>
                </a:gridCol>
                <a:gridCol w="421247">
                  <a:extLst>
                    <a:ext uri="{9D8B030D-6E8A-4147-A177-3AD203B41FA5}">
                      <a16:colId xmlns:a16="http://schemas.microsoft.com/office/drawing/2014/main" val="3617466206"/>
                    </a:ext>
                  </a:extLst>
                </a:gridCol>
              </a:tblGrid>
              <a:tr h="49103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dirty="0">
                          <a:solidFill>
                            <a:schemeClr val="tx1"/>
                          </a:solidFill>
                          <a:latin typeface="KoPubWorldDotum_Pro Bold" pitchFamily="2" charset="-127"/>
                          <a:ea typeface="KoPubWorldDotum_Pro Bold" pitchFamily="2" charset="-127"/>
                          <a:cs typeface="KoPubWorldDotum_Pro Bold" pitchFamily="2" charset="-127"/>
                        </a:rPr>
                        <a:t>기획일정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  <a:latin typeface="KoPubWorldDotum_Pro Bold" pitchFamily="2" charset="-127"/>
                          <a:ea typeface="KoPubWorldDotum_Pro Bold" pitchFamily="2" charset="-127"/>
                          <a:cs typeface="KoPubWorldDotum_Pro Bold" pitchFamily="2" charset="-127"/>
                        </a:rPr>
                        <a:t>1M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  <a:latin typeface="KoPubWorldDotum_Pro Bold" pitchFamily="2" charset="-127"/>
                        <a:ea typeface="KoPubWorldDotum_Pro Bold" pitchFamily="2" charset="-127"/>
                        <a:cs typeface="KoPubWorldDotum_Pro Bold" pitchFamily="2" charset="-127"/>
                      </a:endParaRP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  <a:latin typeface="KoPubWorldDotum_Pro Bold" pitchFamily="2" charset="-127"/>
                          <a:ea typeface="KoPubWorldDotum_Pro Bold" pitchFamily="2" charset="-127"/>
                          <a:cs typeface="KoPubWorldDotum_Pro Bold" pitchFamily="2" charset="-127"/>
                        </a:rPr>
                        <a:t>2M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  <a:latin typeface="KoPubWorldDotum_Pro Bold" pitchFamily="2" charset="-127"/>
                        <a:ea typeface="KoPubWorldDotum_Pro Bold" pitchFamily="2" charset="-127"/>
                        <a:cs typeface="KoPubWorldDotum_Pro Bold" pitchFamily="2" charset="-127"/>
                      </a:endParaRP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  <a:latin typeface="KoPubWorldDotum_Pro Bold" pitchFamily="2" charset="-127"/>
                          <a:ea typeface="KoPubWorldDotum_Pro Bold" pitchFamily="2" charset="-127"/>
                          <a:cs typeface="KoPubWorldDotum_Pro Bold" pitchFamily="2" charset="-127"/>
                        </a:rPr>
                        <a:t>3M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  <a:latin typeface="KoPubWorldDotum_Pro Bold" pitchFamily="2" charset="-127"/>
                        <a:ea typeface="KoPubWorldDotum_Pro Bold" pitchFamily="2" charset="-127"/>
                        <a:cs typeface="KoPubWorldDotum_Pro Bold" pitchFamily="2" charset="-127"/>
                      </a:endParaRP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  <a:latin typeface="KoPubWorldDotum_Pro Bold" pitchFamily="2" charset="-127"/>
                          <a:ea typeface="KoPubWorldDotum_Pro Bold" pitchFamily="2" charset="-127"/>
                          <a:cs typeface="KoPubWorldDotum_Pro Bold" pitchFamily="2" charset="-127"/>
                        </a:rPr>
                        <a:t>4M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  <a:latin typeface="KoPubWorldDotum_Pro Bold" pitchFamily="2" charset="-127"/>
                        <a:ea typeface="KoPubWorldDotum_Pro Bold" pitchFamily="2" charset="-127"/>
                        <a:cs typeface="KoPubWorldDotum_Pro Bold" pitchFamily="2" charset="-127"/>
                      </a:endParaRP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  <a:latin typeface="KoPubWorldDotum_Pro Bold" pitchFamily="2" charset="-127"/>
                          <a:ea typeface="KoPubWorldDotum_Pro Bold" pitchFamily="2" charset="-127"/>
                          <a:cs typeface="KoPubWorldDotum_Pro Bold" pitchFamily="2" charset="-127"/>
                        </a:rPr>
                        <a:t>5M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  <a:latin typeface="KoPubWorldDotum_Pro Bold" pitchFamily="2" charset="-127"/>
                        <a:ea typeface="KoPubWorldDotum_Pro Bold" pitchFamily="2" charset="-127"/>
                        <a:cs typeface="KoPubWorldDotum_Pro Bold" pitchFamily="2" charset="-127"/>
                      </a:endParaRP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925305"/>
                  </a:ext>
                </a:extLst>
              </a:tr>
              <a:tr h="4910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858193"/>
                  </a:ext>
                </a:extLst>
              </a:tr>
              <a:tr h="4910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기획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339689"/>
                  </a:ext>
                </a:extLst>
              </a:tr>
              <a:tr h="4910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설계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56271"/>
                  </a:ext>
                </a:extLst>
              </a:tr>
              <a:tr h="491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개발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864681"/>
                  </a:ext>
                </a:extLst>
              </a:tr>
              <a:tr h="4910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테스트</a:t>
                      </a:r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wdDn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88360" marR="88360" marT="44180" marB="44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0952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DA50C8-1D6C-5D42-5982-A15D78B4447D}"/>
              </a:ext>
            </a:extLst>
          </p:cNvPr>
          <p:cNvSpPr txBox="1"/>
          <p:nvPr/>
        </p:nvSpPr>
        <p:spPr>
          <a:xfrm>
            <a:off x="335360" y="404664"/>
            <a:ext cx="2302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서비스 개요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C8AB0-910E-0F8D-468C-69556401C124}"/>
              </a:ext>
            </a:extLst>
          </p:cNvPr>
          <p:cNvSpPr txBox="1"/>
          <p:nvPr/>
        </p:nvSpPr>
        <p:spPr>
          <a:xfrm>
            <a:off x="9178724" y="9954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1203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266</Words>
  <Application>Microsoft Macintosh PowerPoint</Application>
  <PresentationFormat>와이드스크린</PresentationFormat>
  <Paragraphs>115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Apple SD Gothic Neo</vt:lpstr>
      <vt:lpstr>KoPubWorldDotum_Pro Bold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황수은</dc:creator>
  <cp:lastModifiedBy>황수은</cp:lastModifiedBy>
  <cp:revision>5</cp:revision>
  <dcterms:created xsi:type="dcterms:W3CDTF">2026-03-04T11:16:16Z</dcterms:created>
  <dcterms:modified xsi:type="dcterms:W3CDTF">2026-03-31T02:38:15Z</dcterms:modified>
</cp:coreProperties>
</file>